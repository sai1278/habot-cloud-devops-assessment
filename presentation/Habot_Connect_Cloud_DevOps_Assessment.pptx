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FOUNDATION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Assessment Objective &amp; System Philosophy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1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Candidate &amp; Assessment Context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Candidate Name</a:t>
            </a:r>
            <a:r>
              <a:rPr>
                <a:solidFill>
                  <a:srgbClr val="94A3B8"/>
                </a:solidFill>
              </a:rPr>
              <a:t>: kanchiDhyana sai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Target Position</a:t>
            </a:r>
            <a:r>
              <a:rPr>
                <a:solidFill>
                  <a:srgbClr val="94A3B8"/>
                </a:solidFill>
              </a:rPr>
              <a:t>: Junior Cloud &amp; DevOps Engineer (GCP / Django / React)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Target Company</a:t>
            </a:r>
            <a:r>
              <a:rPr>
                <a:solidFill>
                  <a:srgbClr val="94A3B8"/>
                </a:solidFill>
              </a:rPr>
              <a:t>: Habot Connect FZCO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Core Engineering Mission</a:t>
            </a:r>
            <a:r>
              <a:rPr>
                <a:solidFill>
                  <a:srgbClr val="94A3B8"/>
                </a:solidFill>
              </a:rPr>
              <a:t>: Build a production-minded, reproducible reference system connecting student onboarding registrations to analytical BigQuery storage.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Non-Fabrication Rule</a:t>
            </a:r>
            <a:r>
              <a:rPr>
                <a:solidFill>
                  <a:srgbClr val="94A3B8"/>
                </a:solidFill>
              </a:rPr>
              <a:t>: Zero fabricated GCP resources or artificial claims. Clear boundaries between locally validated code and cloud prerequisites.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5 Core Engineering Pillars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1. Poka-Yoke Controls</a:t>
            </a:r>
            <a:r>
              <a:rPr>
                <a:solidFill>
                  <a:srgbClr val="94A3B8"/>
                </a:solidFill>
              </a:rPr>
              <a:t>: Fail-closed mistake proofing; invalid states halt immediately rather than degrading silently.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2. Deterministic Logic</a:t>
            </a:r>
            <a:r>
              <a:rPr>
                <a:solidFill>
                  <a:srgbClr val="94A3B8"/>
                </a:solidFill>
              </a:rPr>
              <a:t>: Pure binary Consent &amp; Yes/No (DCYN) engine with zero ambiguous intermediate states.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3. Canonical Contract</a:t>
            </a:r>
            <a:r>
              <a:rPr>
                <a:solidFill>
                  <a:srgbClr val="94A3B8"/>
                </a:solidFill>
              </a:rPr>
              <a:t>: JSON Schema (Draft 2020-12) as single source of truth; zero schema drift across all layers.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4. Least-Privilege IAM</a:t>
            </a:r>
            <a:r>
              <a:rPr>
                <a:solidFill>
                  <a:srgbClr val="94A3B8"/>
                </a:solidFill>
              </a:rPr>
              <a:t>: 7 dedicated service accounts with fine-grained role bindings and IAM conditions.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5. Objective Evidence</a:t>
            </a:r>
            <a:r>
              <a:rPr>
                <a:solidFill>
                  <a:srgbClr val="94A3B8"/>
                </a:solidFill>
              </a:rPr>
              <a:t>: 25 unit tests, schema validators, linting, and formatting proven with execution logs.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This assessment is built as an enterprise-grade reference system where correctness, anti-coercion, and reproducible evidence take strict precedence over superficial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END-TO-END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High-Level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End-to-End Component Flow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1. Client Tier</a:t>
            </a:r>
            <a:r>
              <a:rPr>
                <a:solidFill>
                  <a:srgbClr val="94A3B8"/>
                </a:solidFill>
              </a:rPr>
              <a:t>: React frontend captures student registration and parental consent payload.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2. Ingestion Gateway</a:t>
            </a:r>
            <a:r>
              <a:rPr>
                <a:solidFill>
                  <a:srgbClr val="94A3B8"/>
                </a:solidFill>
              </a:rPr>
              <a:t>: Django REST Framework API receives JSON submission at /api/v1/onboarding/.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3. Validation &amp; DCYN</a:t>
            </a:r>
            <a:r>
              <a:rPr>
                <a:solidFill>
                  <a:srgbClr val="94A3B8"/>
                </a:solidFill>
              </a:rPr>
              <a:t>: Strict serializer checks anti-coercion, regex boundaries, and binary business rules.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4. Event Ingestion Bus</a:t>
            </a:r>
            <a:r>
              <a:rPr>
                <a:solidFill>
                  <a:srgbClr val="94A3B8"/>
                </a:solidFill>
              </a:rPr>
              <a:t>: Cloud Pub/Sub topic 'student-onboarding-events' buffers validated immutable records.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5. Analytical Sink</a:t>
            </a:r>
            <a:r>
              <a:rPr>
                <a:solidFill>
                  <a:srgbClr val="94A3B8"/>
                </a:solidFill>
              </a:rPr>
              <a:t>: Direct BigQuery subscription streams events into partitioned 'student_onboarding' table.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6. Jurisdictional Access</a:t>
            </a:r>
            <a:r>
              <a:rPr>
                <a:solidFill>
                  <a:srgbClr val="94A3B8"/>
                </a:solidFill>
              </a:rPr>
              <a:t>: BigQuery Row-Level Security (RLS) dynamically confines queries by regional jurisdiction.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Architectural Topology Diagram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React Frontend (Parent / Legal Guardian)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(HTTPS / JSON)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Django REST Framework API (app/onboarding/)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(Validation &amp; Strict Anti-Coercion)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Google Cloud Pub/Sub (student-onboarding-events)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(Direct BigQuery Streaming Subscription)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BigQuery Staged Warehouse (habot_d1_staged_enforced)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(Row Access Policies / RLS)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Regional Compliance Analysts &amp; Global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Decoupling ingestion from analytics via Pub/Sub ensures high availability at the API layer while guaranteeing that BigQuery receives only contract-certified, immutable onboarding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CLOUD ARCHITECTURE (GCP)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Google Cloud Infrastructure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Provisioned GCP Resources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GCS D0 Raw Landing</a:t>
            </a:r>
            <a:r>
              <a:rPr>
                <a:solidFill>
                  <a:srgbClr val="94A3B8"/>
                </a:solidFill>
              </a:rPr>
              <a:t>: habot-staging-d0-raw-landing; Uniform Bucket-Level Access, Public Access Prevention 'enforced', Object Versioning, 30-day Nearline transition.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Pub/Sub Ingestion Bus</a:t>
            </a:r>
            <a:r>
              <a:rPr>
                <a:solidFill>
                  <a:srgbClr val="94A3B8"/>
                </a:solidFill>
              </a:rPr>
              <a:t>: Topic 'student-onboarding-events' with 7-day retention; DLQ 'student-onboarding-dlq' with 14-day retention buffer.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BigQuery D1 Staged Zone</a:t>
            </a:r>
            <a:r>
              <a:rPr>
                <a:solidFill>
                  <a:srgbClr val="94A3B8"/>
                </a:solidFill>
              </a:rPr>
              <a:t>: Dataset 'habot_d1_staged_enforced'; Table 'student_onboarding' with DAY partitioning on created_at and clustering on region, learning_support_type.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Access Control Boundaries</a:t>
            </a:r>
            <a:r>
              <a:rPr>
                <a:solidFill>
                  <a:srgbClr val="94A3B8"/>
                </a:solidFill>
              </a:rPr>
              <a:t>: Table-level Row Access Policies for MENA, EMEA, and Global Compliance Audit.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Identity Infrastructure</a:t>
            </a:r>
            <a:r>
              <a:rPr>
                <a:solidFill>
                  <a:srgbClr val="94A3B8"/>
                </a:solidFill>
              </a:rPr>
              <a:t>: 7 purpose-built service accounts with zero persistent JSON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Perimeter Security &amp; Invariants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Zero Public Exposure</a:t>
            </a:r>
            <a:r>
              <a:rPr>
                <a:solidFill>
                  <a:srgbClr val="94A3B8"/>
                </a:solidFill>
              </a:rPr>
              <a:t>: Public Access Prevention is enforced at the GCS bucket level, eliminating accidental public URL sharing.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Partitioning &amp; Cost Control</a:t>
            </a:r>
            <a:r>
              <a:rPr>
                <a:solidFill>
                  <a:srgbClr val="94A3B8"/>
                </a:solidFill>
              </a:rPr>
              <a:t>: Partitioning by day on created_at bounds analytical query scan costs and accelerates ingestion pruning.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Clustering Optimization</a:t>
            </a:r>
            <a:r>
              <a:rPr>
                <a:solidFill>
                  <a:srgbClr val="94A3B8"/>
                </a:solidFill>
              </a:rPr>
              <a:t>: Clustering on region and support type aligns table organization with regional compliance query patterns.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DLQ Quarantine Buffer</a:t>
            </a:r>
            <a:r>
              <a:rPr>
                <a:solidFill>
                  <a:srgbClr val="94A3B8"/>
                </a:solidFill>
              </a:rPr>
              <a:t>: Failed messages are isolated in a dedicated dead-letter topic with 14 days of retention for forensic replay.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Configuration Source</a:t>
            </a:r>
            <a:r>
              <a:rPr>
                <a:solidFill>
                  <a:srgbClr val="94A3B8"/>
                </a:solidFill>
              </a:rPr>
              <a:t>: Codified declaratively in terraform/storage.tf, bigquery.tf, and pubsub.tf.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Every cloud resource enforces an explicit security boundary: public access is prevented at the storage level, and BigQuery storage enforces strict partitioning and jurisdictional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INFRASTRUCTURE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Terraform Infrastructure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4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Module Architecture &amp; Governance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Declarative Staging Spec</a:t>
            </a:r>
            <a:r>
              <a:rPr>
                <a:solidFill>
                  <a:srgbClr val="94A3B8"/>
                </a:solidFill>
              </a:rPr>
              <a:t>: Configured via terraform/environments/staging.tfvars.example with validated variable boundaries.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Provider Pinning</a:t>
            </a:r>
            <a:r>
              <a:rPr>
                <a:solidFill>
                  <a:srgbClr val="94A3B8"/>
                </a:solidFill>
              </a:rPr>
              <a:t>: HashiCorp Google provider pinned strictly to ~&gt; 5.40.0; Terraform CLI pinned to &gt;= 1.5.0, &lt; 2.0.0.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Strict Input Validation</a:t>
            </a:r>
            <a:r>
              <a:rPr>
                <a:solidFill>
                  <a:srgbClr val="94A3B8"/>
                </a:solidFill>
              </a:rPr>
              <a:t>: Custom validation blocks enforce GCP project ID regex syntax and environment enumeration ('staging' | 'production').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State Locking &amp; Concurrency</a:t>
            </a:r>
            <a:r>
              <a:rPr>
                <a:solidFill>
                  <a:srgbClr val="94A3B8"/>
                </a:solidFill>
              </a:rPr>
              <a:t>: Pipeline enforces cancel-in-progress: false on terraform-staging-lock to prevent remote state lock corruption.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Dependency Management</a:t>
            </a:r>
            <a:r>
              <a:rPr>
                <a:solidFill>
                  <a:srgbClr val="94A3B8"/>
                </a:solidFill>
              </a:rPr>
              <a:t>: Explicit depends_on declarations guarantee BigQuery tables exist before Pub/Sub sinks attach.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Verification Status: LOCALLY VERIFIED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Canonical HCL Formatting</a:t>
            </a:r>
            <a:r>
              <a:rPr>
                <a:solidFill>
                  <a:srgbClr val="94A3B8"/>
                </a:solidFill>
              </a:rPr>
              <a:t>: terraform fmt -check -recursive terraform -&gt; Exit Code 0 (Clean).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Syntax &amp; Spec Validation</a:t>
            </a:r>
            <a:r>
              <a:rPr>
                <a:solidFill>
                  <a:srgbClr val="94A3B8"/>
                </a:solidFill>
              </a:rPr>
              <a:t>: terraform validate -&gt; Success! The configuration is valid.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Dry-Run Planning</a:t>
            </a:r>
            <a:r>
              <a:rPr>
                <a:solidFill>
                  <a:srgbClr val="94A3B8"/>
                </a:solidFill>
              </a:rPr>
              <a:t>: terraform plan -var-file=staging.tfvars.example -&gt; Plan: 23 to add, 0 to change, 0 to destroy.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Zero Console Click-Ops</a:t>
            </a:r>
            <a:r>
              <a:rPr>
                <a:solidFill>
                  <a:srgbClr val="94A3B8"/>
                </a:solidFill>
              </a:rPr>
              <a:t>: 100% of infrastructure is codified in HCL; no manual cloud console intervention required.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Live Apply Status</a:t>
            </a:r>
            <a:r>
              <a:rPr>
                <a:solidFill>
                  <a:srgbClr val="94A3B8"/>
                </a:solidFill>
              </a:rPr>
              <a:t>: NOT VERIFIED (Requires live GCP billing account and project credentials).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No resources are created manually in the console. Every configuration is version-controlled, validated in CI, and reproducible across staging and production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IDENTITY &amp; 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IAM &amp; Service Account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5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Workload SAs (Resource-Scoped Least Privilege)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sa-d0-ingest</a:t>
            </a:r>
            <a:r>
              <a:rPr>
                <a:solidFill>
                  <a:srgbClr val="94A3B8"/>
                </a:solidFill>
              </a:rPr>
              <a:t>: roles/storage.objectCreator on GCS D0 bucket only. Cannot read, delete, or overwrite objects.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sa-d0-process</a:t>
            </a:r>
            <a:r>
              <a:rPr>
                <a:solidFill>
                  <a:srgbClr val="94A3B8"/>
                </a:solidFill>
              </a:rPr>
              <a:t>: roles/storage.objectViewer on GCS D0 bucket only. Read-only processing access.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sa-django-pub</a:t>
            </a:r>
            <a:r>
              <a:rPr>
                <a:solidFill>
                  <a:srgbClr val="94A3B8"/>
                </a:solidFill>
              </a:rPr>
              <a:t>: roles/pubsub.publisher on onboarding topic only. Cannot consume or manage topics.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sa-pubsub-sink</a:t>
            </a:r>
            <a:r>
              <a:rPr>
                <a:solidFill>
                  <a:srgbClr val="94A3B8"/>
                </a:solidFill>
              </a:rPr>
              <a:t>: roles/bigquery.dataEditor on dataset. Required for Pub/Sub BigQuery streaming insert.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sa-analytics</a:t>
            </a:r>
            <a:r>
              <a:rPr>
                <a:solidFill>
                  <a:srgbClr val="94A3B8"/>
                </a:solidFill>
              </a:rPr>
              <a:t>: roles/bigquery.dataViewer scoped via IAM Condition to habot_d1_staged_enforced + project jobUser.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sa-ci-plan</a:t>
            </a:r>
            <a:r>
              <a:rPr>
                <a:solidFill>
                  <a:srgbClr val="94A3B8"/>
                </a:solidFill>
              </a:rPr>
              <a:t>: roles/viewer + roles/iam.securityReviewer. Read-only metadata inspection for PR dry-run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Deployment SA (Administrative Delegation)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sa-ci-apply Roles</a:t>
            </a:r>
            <a:r>
              <a:rPr>
                <a:solidFill>
                  <a:srgbClr val="94A3B8"/>
                </a:solidFill>
              </a:rPr>
              <a:t>: Project-level storage.admin, bigquery.admin, pubsub.admin, iam.serviceAccountAdmin.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Scope Justification</a:t>
            </a:r>
            <a:r>
              <a:rPr>
                <a:solidFill>
                  <a:srgbClr val="94A3B8"/>
                </a:solidFill>
              </a:rPr>
              <a:t>: Terraform must provision buckets, datasets, topics, and service accounts across the project.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Crucial Distinction</a:t>
            </a:r>
            <a:r>
              <a:rPr>
                <a:solidFill>
                  <a:srgbClr val="94A3B8"/>
                </a:solidFill>
              </a:rPr>
              <a:t>: This is service-scoped administrative delegation for CI automation, NOT resource-level least privilege.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Blast Radius Limitation</a:t>
            </a:r>
            <a:r>
              <a:rPr>
                <a:solidFill>
                  <a:srgbClr val="94A3B8"/>
                </a:solidFill>
              </a:rPr>
              <a:t>: Intentionally narrower than primitive roles/owner or roles/editor. Compute, KMS, and Billing are excluded.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Isolation Invariant</a:t>
            </a:r>
            <a:r>
              <a:rPr>
                <a:solidFill>
                  <a:srgbClr val="94A3B8"/>
                </a:solidFill>
              </a:rPr>
              <a:t>: sa-ci-apply must be dedicated exclusively to automated deployment and NEVER reused by runtime application workloads.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We do not falsely claim '100% least privilege' for CI apply. We honestly document that deployment automation uses service-scoped admin roles, whereas application workloads operate under strict resource-level least privilege.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SCHEMA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Canonical Data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6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Single Source of Truth Specification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Contract Schema</a:t>
            </a:r>
            <a:r>
              <a:rPr>
                <a:solidFill>
                  <a:srgbClr val="94A3B8"/>
                </a:solidFill>
              </a:rPr>
              <a:t>: schemas/student_onboarding.schema.json (JSON Schema Draft 2020-12).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Prohibition of Unknown Fields</a:t>
            </a:r>
            <a:r>
              <a:rPr>
                <a:solidFill>
                  <a:srgbClr val="94A3B8"/>
                </a:solidFill>
              </a:rPr>
              <a:t>: additionalProperties: false strictly halts any unmapped payload fields.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Active Contract Version</a:t>
            </a:r>
            <a:r>
              <a:rPr>
                <a:solidFill>
                  <a:srgbClr val="94A3B8"/>
                </a:solidFill>
              </a:rPr>
              <a:t>: schema_version is constrained strictly to '1.0.0'.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String Character Bounds</a:t>
            </a:r>
            <a:r>
              <a:rPr>
                <a:solidFill>
                  <a:srgbClr val="94A3B8"/>
                </a:solidFill>
              </a:rPr>
              <a:t>: student_name and parent_name bounded to 2-100 characters with alphabetic regex.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Email Deliverability Syntax</a:t>
            </a:r>
            <a:r>
              <a:rPr>
                <a:solidFill>
                  <a:srgbClr val="94A3B8"/>
                </a:solidFill>
              </a:rPr>
              <a:t>: email constrained to RFC 5322 format with max 254 characters.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Mandatory Parental Consent</a:t>
            </a:r>
            <a:r>
              <a:rPr>
                <a:solidFill>
                  <a:srgbClr val="94A3B8"/>
                </a:solidFill>
              </a:rPr>
              <a:t>: consent boolean field constrained strictly to const: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100% Mathematical Parity (7 Layers)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JSON Schema</a:t>
            </a:r>
            <a:r>
              <a:rPr>
                <a:solidFill>
                  <a:srgbClr val="94A3B8"/>
                </a:solidFill>
              </a:rPr>
              <a:t>: 9 required fields, exact types, enum bounds, additionalProperties: false.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DRF Serializer</a:t>
            </a:r>
            <a:r>
              <a:rPr>
                <a:solidFill>
                  <a:srgbClr val="94A3B8"/>
                </a:solidFill>
              </a:rPr>
              <a:t>: StrictCharField, StrictBooleanField, EmailField, DateTimeField.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Django Model</a:t>
            </a:r>
            <a:r>
              <a:rPr>
                <a:solidFill>
                  <a:srgbClr val="94A3B8"/>
                </a:solidFill>
              </a:rPr>
              <a:t>: CharField, BooleanField, EmailField, DateTimeField (student_onboarding).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BigQuery Schema</a:t>
            </a:r>
            <a:r>
              <a:rPr>
                <a:solidFill>
                  <a:srgbClr val="94A3B8"/>
                </a:solidFill>
              </a:rPr>
              <a:t>: 9 REQUIRED columns: STRING, BOOLEAN, TIMESTAMP.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DCYN Rules &amp; CSV</a:t>
            </a:r>
            <a:r>
              <a:rPr>
                <a:solidFill>
                  <a:srgbClr val="94A3B8"/>
                </a:solidFill>
              </a:rPr>
              <a:t>: DCYN-001 through DCYN-005 field mapping verified.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Naming Parity</a:t>
            </a:r>
            <a:r>
              <a:rPr>
                <a:solidFill>
                  <a:srgbClr val="94A3B8"/>
                </a:solidFill>
              </a:rPr>
              <a:t>: email is used universally; student_email does not exist.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Contract Verification</a:t>
            </a:r>
            <a:r>
              <a:rPr>
                <a:solidFill>
                  <a:srgbClr val="94A3B8"/>
                </a:solidFill>
              </a:rPr>
              <a:t>: validate_schema.py passes valid payload and rejects invalid payload.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Schema drift between backend code and data warehouses causes silent data corruption. By establishing a canonical JSON contract and enforcing exact type parity, drift is mathematically impossible.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BUSINESS LOGIC DETERMINISM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DCYN Decision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7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Deterministic Consent &amp; Yes/No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Zero Ambiguous States</a:t>
            </a:r>
            <a:r>
              <a:rPr>
                <a:solidFill>
                  <a:srgbClr val="94A3B8"/>
                </a:solidFill>
              </a:rPr>
              <a:t>: Business decisions evaluate strictly to YES or NO. States like 'pending', 'soft_consent', or 'maybe' are prohibited.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Default Posture</a:t>
            </a:r>
            <a:r>
              <a:rPr>
                <a:solidFill>
                  <a:srgbClr val="94A3B8"/>
                </a:solidFill>
              </a:rPr>
              <a:t>: default_decision: REJECT (Fail-Closed). Incomplete or ambiguous data cannot enter storage.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DCYN-001 (Consent)</a:t>
            </a:r>
            <a:r>
              <a:rPr>
                <a:solidFill>
                  <a:srgbClr val="94A3B8"/>
                </a:solidFill>
              </a:rPr>
              <a:t>: Was parental consent explicitly granted? YES -&gt; PROCEED | NO -&gt; REJECT (ERR_DCYN_CONSENT_REFUSED).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DCYN-002 (Support Coherence)</a:t>
            </a:r>
            <a:r>
              <a:rPr>
                <a:solidFill>
                  <a:srgbClr val="94A3B8"/>
                </a:solidFill>
              </a:rPr>
              <a:t>: Does support_required match learning_support_type? (False &amp; NONE, or True &amp; Category) -&gt; PROCEED | Incoherent -&gt; REJECT.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DCYN-003 (Region)</a:t>
            </a:r>
            <a:r>
              <a:rPr>
                <a:solidFill>
                  <a:srgbClr val="94A3B8"/>
                </a:solidFill>
              </a:rPr>
              <a:t>: Is region within operational catalog? (NA, EMEA, APAC, LATAM, MENA) -&gt; PROCEED | Unsupported -&gt; REJECT.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DCYN-004 &amp; 005</a:t>
            </a:r>
            <a:r>
              <a:rPr>
                <a:solidFill>
                  <a:srgbClr val="94A3B8"/>
                </a:solidFill>
              </a:rPr>
              <a:t>: Email RFC 5322 pattern match; schema_version == '1.0.0'.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Decision Logic Pipeline Flow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Incoming Ingestion Payload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DCYN-001: Parental Consent == True?  ---&gt; [NO: HTTP 400 ERR_DCYN_CONSENT_REFUSED]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[YES]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DCYN-002: Support Coherent?          ---&gt; [NO: HTTP 400 ERR_DCYN_SUPPORT_INCOHERENT]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[YES]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DCYN-003: Operational Region Valid?  ---&gt; [NO: HTTP 400 ERR_DCYN_UNSUPPORTED_REGION]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[YES]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DCYN-005: Schema Version == 1.0.0?   ---&gt; [NO: HTTP 400 ERR_DCYN_VERSION_MISMATCH]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| [YES]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HTTP 201 CREATED -&gt; Stream to Pub/Sub 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Under child privacy regulations like GDPR and COPPA, consent is non-negotiable. Our DCYN engine ensures that any non-true consent immediately rejects at the API gateway.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POKA-YOKE SERIALIZER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Django REST Framework Anti-Coercion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8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Silent Type Coercion Vulnerability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Default DRF Behavior</a:t>
            </a:r>
            <a:r>
              <a:rPr>
                <a:solidFill>
                  <a:srgbClr val="94A3B8"/>
                </a:solidFill>
              </a:rPr>
              <a:t>: Standard serializers silently coerce string 'true', '1', or integer 1 into boolean True.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Ingestion Risk</a:t>
            </a:r>
            <a:r>
              <a:rPr>
                <a:solidFill>
                  <a:srgbClr val="94A3B8"/>
                </a:solidFill>
              </a:rPr>
              <a:t>: Loose string/boolean typing bypasses canonical JSON schema contracts and corrupts warehouse types.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StrictBooleanField</a:t>
            </a:r>
            <a:r>
              <a:rPr>
                <a:solidFill>
                  <a:srgbClr val="94A3B8"/>
                </a:solidFill>
              </a:rPr>
              <a:t>: Enforces isinstance(data, bool); raises ValidationError(code='invalid_boolean') if passed string/int.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StrictCharField</a:t>
            </a:r>
            <a:r>
              <a:rPr>
                <a:solidFill>
                  <a:srgbClr val="94A3B8"/>
                </a:solidFill>
              </a:rPr>
              <a:t>: Enforces isinstance(data, str); rejects boolean literals or numeric values from being coerced into strings.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Extraneous Field Defense</a:t>
            </a:r>
            <a:r>
              <a:rPr>
                <a:solidFill>
                  <a:srgbClr val="94A3B8"/>
                </a:solidFill>
              </a:rPr>
              <a:t>: to_internal_value() checks provided_fields - declared_fields and halts with code='unknown_fields_prohibited'.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Anti-Coercion Test Matrix (Verified in Pytest)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{"support_required": true}</a:t>
            </a:r>
            <a:r>
              <a:rPr>
                <a:solidFill>
                  <a:srgbClr val="94A3B8"/>
                </a:solidFill>
              </a:rPr>
              <a:t>: ACCEPTED (Valid boolean literal)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{"support_required": "true"}</a:t>
            </a:r>
            <a:r>
              <a:rPr>
                <a:solidFill>
                  <a:srgbClr val="94A3B8"/>
                </a:solidFill>
              </a:rPr>
              <a:t>: REJECTED: HTTP 400 (invalid_boolean, test_13)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{"support_required": 1}</a:t>
            </a:r>
            <a:r>
              <a:rPr>
                <a:solidFill>
                  <a:srgbClr val="94A3B8"/>
                </a:solidFill>
              </a:rPr>
              <a:t>: REJECTED: HTTP 400 (invalid_boolean, test_14)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{"support_required": "1"}</a:t>
            </a:r>
            <a:r>
              <a:rPr>
                <a:solidFill>
                  <a:srgbClr val="94A3B8"/>
                </a:solidFill>
              </a:rPr>
              <a:t>: REJECTED: HTTP 400 (invalid_boolean)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{"support_required": null}</a:t>
            </a:r>
            <a:r>
              <a:rPr>
                <a:solidFill>
                  <a:srgbClr val="94A3B8"/>
                </a:solidFill>
              </a:rPr>
              <a:t>: REJECTED: HTTP 400 (null not permitted)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{"student_name": true}</a:t>
            </a:r>
            <a:r>
              <a:rPr>
                <a:solidFill>
                  <a:srgbClr val="94A3B8"/>
                </a:solidFill>
              </a:rPr>
              <a:t>: REJECTED: HTTP 400 (invalid_string, test_15)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{"unknown_injected_field": "x"}</a:t>
            </a:r>
            <a:r>
              <a:rPr>
                <a:solidFill>
                  <a:srgbClr val="94A3B8"/>
                </a:solidFill>
              </a:rPr>
              <a:t>: REJECTED: HTTP 400 (unknown_fields_prohibited, test_10)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Pytest Execution Result</a:t>
            </a:r>
            <a:r>
              <a:rPr>
                <a:solidFill>
                  <a:srgbClr val="94A3B8"/>
                </a:solidFill>
              </a:rPr>
              <a:t>: 25 passed in 0.27s (100% pass rate).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Silent type coercion is a critical vulnerability in data ingestion. Our custom serializer fields enforce strict type correctness before payloads ever leave Django.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EVENT STREAMING &amp;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Pub/Sub -&gt; BigQuery Streaming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9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Direct BigQuery Ingestion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Direct Subscription</a:t>
            </a:r>
            <a:r>
              <a:rPr>
                <a:solidFill>
                  <a:srgbClr val="94A3B8"/>
                </a:solidFill>
              </a:rPr>
              <a:t>: Pub/Sub streams directly into BigQuery without intermediary Cloud Functions or Dataflow jobs.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Primary Event Topic</a:t>
            </a:r>
            <a:r>
              <a:rPr>
                <a:solidFill>
                  <a:srgbClr val="94A3B8"/>
                </a:solidFill>
              </a:rPr>
              <a:t>: student-onboarding-events configured with 7-day retention (604,800s).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Audit Metadata Ingestion</a:t>
            </a:r>
            <a:r>
              <a:rPr>
                <a:solidFill>
                  <a:srgbClr val="94A3B8"/>
                </a:solidFill>
              </a:rPr>
              <a:t>: write_metadata = true captures message ID, publish timestamp, and attributes into BigQuery pseudo-columns.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Daily Table Partitioning</a:t>
            </a:r>
            <a:r>
              <a:rPr>
                <a:solidFill>
                  <a:srgbClr val="94A3B8"/>
                </a:solidFill>
              </a:rPr>
              <a:t>: student_onboarding partitioned daily on created_at for bounded analytical scan slots.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Jurisdictional Clustering</a:t>
            </a:r>
            <a:r>
              <a:rPr>
                <a:solidFill>
                  <a:srgbClr val="94A3B8"/>
                </a:solidFill>
              </a:rPr>
              <a:t>: Clustering on region and learning_support_type accelerates regional compliance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Streaming Bus &amp; Schema Attachment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Django Event Publisher (sa-django-publisher)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v (Pub/Sub Publisher API)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Cloud Pub/Sub Topic: student-onboarding-events (7-Day Retention)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v (Direct BigQuery Subscription: student-onboarding-bq-sub)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BigQuery Table: habot_d1_staged_enforced.student_onboarding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- write_metadata = true (Idempotent deduplication)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- drop_unknown_fields = false (Poka-Yoke schema enforcement)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- Partitioned: DAY(created_at)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  - Clustered: [region, learning_support_type]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Direct BigQuery subscriptions eliminate intermediate compute workers like Cloud Functions or Dataflow for standard ingestion, reducing operational complexity and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RELIABILITY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 Integrity &amp; Dead-Letter Queue (DLQ)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10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DLQ Policy &amp; Data Loss Reality Check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drop_unknown_fields = false</a:t>
            </a:r>
            <a:r>
              <a:rPr>
                <a:solidFill>
                  <a:srgbClr val="94A3B8"/>
                </a:solidFill>
              </a:rPr>
              <a:t>: Prevents unmapped fields from being silently dropped into BigQuery. Malformed rows are rejected.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Exponential Backoff Retries</a:t>
            </a:r>
            <a:r>
              <a:rPr>
                <a:solidFill>
                  <a:srgbClr val="94A3B8"/>
                </a:solidFill>
              </a:rPr>
              <a:t>: Subscription retries insertion up to 5 times (max_delivery_attempts = 5).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Dead-Letter Topic</a:t>
            </a:r>
            <a:r>
              <a:rPr>
                <a:solidFill>
                  <a:srgbClr val="94A3B8"/>
                </a:solidFill>
              </a:rPr>
              <a:t>: student-onboarding-dlq captures permanently failing messages.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DLQ Retention Window</a:t>
            </a:r>
            <a:r>
              <a:rPr>
                <a:solidFill>
                  <a:srgbClr val="94A3B8"/>
                </a:solidFill>
              </a:rPr>
              <a:t>: 14 days (1,209,600s) retention allows operations ample time for triage.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Data Loss Reality Check</a:t>
            </a:r>
            <a:r>
              <a:rPr>
                <a:solidFill>
                  <a:srgbClr val="94A3B8"/>
                </a:solidFill>
              </a:rPr>
              <a:t>: Setting drop_unknown_fields = false protects against silent corruption, but un-triaged messages expire after 14 days. Zero data loss requires active operational monitoring and replay.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Failure Path &amp; Triage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Producer (Django API)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Pub/Sub Topic (student-onboarding-events, 7-day retention)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BigQuery Subscription (drop_unknown_fields = false)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+---&gt; Valid Message   ---&gt; BigQuery Table Insert (Committed)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+---&gt; Schema Mismatch ---&gt; 5 Retries with Backoff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                     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                 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        DLQ Topic (student-onboarding-dlq, 14-day retention)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                      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                      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               Operator Alert &amp; Replay via DLQ Subscription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Setting drop_unknown_fields to false prevents silent data loss, while our 14-day DLQ provides a generous operational buffer for engineers to investigate and replay failed payloads.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DATA GOVERNANCE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BigQuery Row-Level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11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Jurisdictional Access Policies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Single Table Architecture</a:t>
            </a:r>
            <a:r>
              <a:rPr>
                <a:solidFill>
                  <a:srgbClr val="94A3B8"/>
                </a:solidFill>
              </a:rPr>
              <a:t>: Eliminates redundant regional dataset copies. Regional filtering occurs dynamically at query runtime.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MENA Regional Access</a:t>
            </a:r>
            <a:r>
              <a:rPr>
                <a:solidFill>
                  <a:srgbClr val="94A3B8"/>
                </a:solidFill>
              </a:rPr>
              <a:t>: Grantee group:mena-compliance-analysts@example.com -&gt; Predicate: region = 'MENA'.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EMEA Regional Access</a:t>
            </a:r>
            <a:r>
              <a:rPr>
                <a:solidFill>
                  <a:srgbClr val="94A3B8"/>
                </a:solidFill>
              </a:rPr>
              <a:t>: Grantee group:emea-compliance-analysts@example.com -&gt; Predicate: region = 'EMEA'.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Global Compliance Audit</a:t>
            </a:r>
            <a:r>
              <a:rPr>
                <a:solidFill>
                  <a:srgbClr val="94A3B8"/>
                </a:solidFill>
              </a:rPr>
              <a:t>: Grantee group:global-compliance-audit@example.com -&gt; Predicate: 1 = 1 (Unfiltered visibility).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Silent Denial Invariant</a:t>
            </a:r>
            <a:r>
              <a:rPr>
                <a:solidFill>
                  <a:srgbClr val="94A3B8"/>
                </a:solidFill>
              </a:rPr>
              <a:t>: Users with dataset dataViewer role who lack an RLS grant receive 0 rows upon querying.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Lifecycle Reality &amp; Table Recreation Warning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DDL Implementation</a:t>
            </a:r>
            <a:r>
              <a:rPr>
                <a:solidFill>
                  <a:srgbClr val="94A3B8"/>
                </a:solidFill>
              </a:rPr>
              <a:t>: Row access policies are codified in terraform/policies/row_access_policy.sql.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Terraform Provider Limitation</a:t>
            </a:r>
            <a:r>
              <a:rPr>
                <a:solidFill>
                  <a:srgbClr val="94A3B8"/>
                </a:solidFill>
              </a:rPr>
              <a:t>: Google Cloud Terraform provider does not manage BigQuery Row Access Policies as native state resources.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Table Recreation Warning</a:t>
            </a:r>
            <a:r>
              <a:rPr>
                <a:solidFill>
                  <a:srgbClr val="94A3B8"/>
                </a:solidFill>
              </a:rPr>
              <a:t>: IMPORTANT: Recreating the BigQuery table deletes existing row access policies.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Operational Requirement</a:t>
            </a:r>
            <a:r>
              <a:rPr>
                <a:solidFill>
                  <a:srgbClr val="94A3B8"/>
                </a:solidFill>
              </a:rPr>
              <a:t>: After table recreation, the RLS DDL must be re-applied via bq query before regional users are granted access.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Verification Procedure</a:t>
            </a:r>
            <a:r>
              <a:rPr>
                <a:solidFill>
                  <a:srgbClr val="94A3B8"/>
                </a:solidFill>
              </a:rPr>
              <a:t>: Audit active policies via bq query against INFORMATION_SCHEMA.ROW_ACCESS_POLICIES.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Enforcement Status</a:t>
            </a:r>
            <a:r>
              <a:rPr>
                <a:solidFill>
                  <a:srgbClr val="94A3B8"/>
                </a:solidFill>
              </a:rPr>
              <a:t>: DEFINED in SQL &amp; CONFIG (Requires live GCP table for runtime verification).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RLS allows Habot to maintain a single canonical table while mathematically guaranteeing that regional officers only see data within their legal jurisdiction.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AUTOMATED QUALITY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Fail-Closed Poka-Yoke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12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 Pinned GitHub Actions Workflows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.github/workflows/pull-request.yml</a:t>
            </a:r>
            <a:r>
              <a:rPr>
                <a:solidFill>
                  <a:srgbClr val="94A3B8"/>
                </a:solidFill>
              </a:rPr>
              <a:t>: Least privilege (contents: read); executes Ruff, validate_schema.py, Pytest suite, terraform fmt, init, validate, and TFLint.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.github/workflows/security.yml</a:t>
            </a:r>
            <a:r>
              <a:rPr>
                <a:solidFill>
                  <a:srgbClr val="94A3B8"/>
                </a:solidFill>
              </a:rPr>
              <a:t>: Least privilege (contents: read); executes Gitleaks v3 full history scan and Trivy IaC v0.36.0 scan on terraform/.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.github/workflows/terraform.yml</a:t>
            </a:r>
            <a:r>
              <a:rPr>
                <a:solidFill>
                  <a:srgbClr val="94A3B8"/>
                </a:solidFill>
              </a:rPr>
              <a:t>: Keyless WIF dry-run planning with safe skip if cloud secrets are unconfigured.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Zero Tolerance Policy</a:t>
            </a:r>
            <a:r>
              <a:rPr>
                <a:solidFill>
                  <a:srgbClr val="94A3B8"/>
                </a:solidFill>
              </a:rPr>
              <a:t>: Zero continue-on-error: true across all mandatory quality and security gates. Any failure immediately halts execution.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Trust Boundary Rigor</a:t>
            </a:r>
            <a:r>
              <a:rPr>
                <a:solidFill>
                  <a:srgbClr val="94A3B8"/>
                </a:solidFill>
              </a:rPr>
              <a:t>: PR workflows cannot access cloud apply credentials; applies run exclusively post-merge on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Fail-Closed PR Pipeline Gate Order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Developer Pull Request Created / Synchronized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1: Ruff Python Linting         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2: JSON Schema Contract Check  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3: Pytest Suite (25 Unit Tests)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4: Terraform Format Check (fmt)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5: Terraform Init (backend=false)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6: Terraform Syntax Validate   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7: TFLint Deep Inspection      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8: Gitleaks v3 Secret Scan     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+---&gt; Gate 9: Trivy IaC Security Scan          [Fail -&gt; HALT]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|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  v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ALL GATES PASSED -&gt; PR Review &amp; Merge Eligible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In our CI/CD pipelines, quality gates are not advisory warnings. They are fail-closed poka-yoke controls that make merging non-compliant code physically impossible.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DEVSECOPS &amp;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Security Gates &amp; Vulnerability Scanning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13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Automated Security Gating Tools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Gitleaks Action (v3)</a:t>
            </a:r>
            <a:r>
              <a:rPr>
                <a:solidFill>
                  <a:srgbClr val="94A3B8"/>
                </a:solidFill>
              </a:rPr>
              <a:t>: Configured with fetch-depth: 0 for full Git history traversal; GITLEAKS_ENABLE_UPLOAD_ARTIFACT: false prevents credential exfiltration.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Trivy IaC Scanner (v0.36.0)</a:t>
            </a:r>
            <a:r>
              <a:rPr>
                <a:solidFill>
                  <a:srgbClr val="94A3B8"/>
                </a:solidFill>
              </a:rPr>
              <a:t>: Scans terraform/ with severity: HIGH,CRITICAL and exit-code: 1; pinned upstream to setup-trivy SHA to prevent runner resolution failures.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Custom Secret Scanner</a:t>
            </a:r>
            <a:r>
              <a:rPr>
                <a:solidFill>
                  <a:srgbClr val="94A3B8"/>
                </a:solidFill>
              </a:rPr>
              <a:t>: Multi-pattern regex engine (scripts/detect_secrets.py) detecting private keys, GCP API keys, AWS credentials, and high-entropy tokens.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Controlled Negative Fixture</a:t>
            </a:r>
            <a:r>
              <a:rPr>
                <a:solidFill>
                  <a:srgbClr val="94A3B8"/>
                </a:solidFill>
              </a:rPr>
              <a:t>: tests/fixtures/malicious_secret.py contains safe mock credentials; verified to trigger exit code 1 in local validation suite.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Keyless Workload Federation</a:t>
            </a:r>
            <a:r>
              <a:rPr>
                <a:solidFill>
                  <a:srgbClr val="94A3B8"/>
                </a:solidFill>
              </a:rPr>
              <a:t>: Configured in terraform.yml using google-github-actions/auth@v2; eliminates persistent JSON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Verified Security Evidence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Negative Fixture Test</a:t>
            </a:r>
            <a:r>
              <a:rPr>
                <a:solidFill>
                  <a:srgbClr val="94A3B8"/>
                </a:solidFill>
              </a:rPr>
              <a:t>: python scripts/detect_secrets.py --target tests/fixtures/malicious_secret.py -&gt; Exit Code 1 [FAIL-CLOSED TRIGGERED].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Clean Repository Test</a:t>
            </a:r>
            <a:r>
              <a:rPr>
                <a:solidFill>
                  <a:srgbClr val="94A3B8"/>
                </a:solidFill>
              </a:rPr>
              <a:t>: python scripts/detect_secrets.py --exclude fixtures -&gt; Exit Code 0 [GATE PASSED: 0 alerts across 69 files].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Remote CI Security Run</a:t>
            </a:r>
            <a:r>
              <a:rPr>
                <a:solidFill>
                  <a:srgbClr val="94A3B8"/>
                </a:solidFill>
              </a:rPr>
              <a:t>: GitHub Security &amp; Secret Detection workflow PASSED on commit 92d34bb.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Remote PR Gates Run</a:t>
            </a:r>
            <a:r>
              <a:rPr>
                <a:solidFill>
                  <a:srgbClr val="94A3B8"/>
                </a:solidFill>
              </a:rPr>
              <a:t>: GitHub Pull Request Gates workflow PASSED on commit 92d34bb.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CodeRabbit Review</a:t>
            </a:r>
            <a:r>
              <a:rPr>
                <a:solidFill>
                  <a:srgbClr val="94A3B8"/>
                </a:solidFill>
              </a:rPr>
              <a:t>: Assertive production-engineering review profile active.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We verify our security scanners using controlled negative test fixtures. If a developer accidentally commits a secret or creates an unencrypted bucket, the gate triggers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RESILIENCE &amp;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Comprehensive Failure Scenario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14 of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2926080"/>
                <a:gridCol w="3047695"/>
              </a:tblGrid>
              <a:tr h="467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Failure Scenario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Root Cause / Trigger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System Response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Architectural Result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Invalid Boolean Coercion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Client sends support_required: 'true'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StrictBooleanField raises invalid_boolean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HTTP 400; silent coercion prevented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Extraneous Field Injection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Client sends unmapped JSON key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to_internal_value() checks declared keys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HTTP 400; unknown fields prohibited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Parental Consent Refusal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Client sends consent: false or null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DCYN-001 validator halts processing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HTTP 400 ERR_DCYN_CONSENT_REFUSED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Committed Secret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Developer commits token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Gitleaks / detect_secrets.py flags token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Non-zero exit code; CI halts merge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Insecure IaC Configuration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Public GCS bucket policy introduced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Trivy IaC scanner flags HIGH finding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Exit code 1; PR workflow fails closed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BigQuery Schema Mismatch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Producer sends out-of-spec record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Direct subscription drop_unknown_fields=false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 retries -&gt; routed to 14-day DLQ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BigQuery Table Recreation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Table dropped/recreated in apply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Row access policies deleted with table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Runbook re-applies DDL before user access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DLQ Message Expiry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DLQ messages sit unhandled for &gt;14d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Pub/Sub message retention window passes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Automated DLQ monitoring alerts operator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Reliability is not about hoping errors never occur; it is about ensuring that every predictable failure mode has a deterministic, fail-closed handling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AUDIT SUMMARY &amp;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Verification &amp; Assessment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Slide 15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Verified Implementation (Local &amp; CI)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Pytest Test Suite</a:t>
            </a:r>
            <a:r>
              <a:rPr>
                <a:solidFill>
                  <a:srgbClr val="94A3B8"/>
                </a:solidFill>
              </a:rPr>
              <a:t>: 25/25 unit tests passed in 0.27s (15 serializer, 10 DCYN).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Python Linting (Ruff)</a:t>
            </a:r>
            <a:r>
              <a:rPr>
                <a:solidFill>
                  <a:srgbClr val="94A3B8"/>
                </a:solidFill>
              </a:rPr>
              <a:t>: 0 errors across all Python code.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JSON Schema Contract</a:t>
            </a:r>
            <a:r>
              <a:rPr>
                <a:solidFill>
                  <a:srgbClr val="94A3B8"/>
                </a:solidFill>
              </a:rPr>
              <a:t>: validate_schema.py 100% conforming with negative rejection tests.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Terraform Formatting &amp; Init</a:t>
            </a:r>
            <a:r>
              <a:rPr>
                <a:solidFill>
                  <a:srgbClr val="94A3B8"/>
                </a:solidFill>
              </a:rPr>
              <a:t>: fmt -check clean; init -backend=false clean; validate clean (23 resources).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Secret Detection</a:t>
            </a:r>
            <a:r>
              <a:rPr>
                <a:solidFill>
                  <a:srgbClr val="94A3B8"/>
                </a:solidFill>
              </a:rPr>
              <a:t>: Negative fixture halts (exit 1); clean repository passes (exit 0).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GitHub Actions CI</a:t>
            </a:r>
            <a:r>
              <a:rPr>
                <a:solidFill>
                  <a:srgbClr val="94A3B8"/>
                </a:solidFill>
              </a:rPr>
              <a:t>: Pull Request Gates, Security, and CodeRabbit all GREEN on commit 92d34bb.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Deliverables Created</a:t>
            </a:r>
            <a:r>
              <a:rPr>
                <a:solidFill>
                  <a:srgbClr val="94A3B8"/>
                </a:solidFill>
              </a:rPr>
              <a:t>: PowerPoint deck (15 slides) &amp; DCYN mapping Excel workbook.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Honest Cloud Prerequisites &amp; Final Posture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External Cloud Dependencies</a:t>
            </a:r>
            <a:r>
              <a:rPr>
                <a:solidFill>
                  <a:srgbClr val="94A3B8"/>
                </a:solidFill>
              </a:rPr>
              <a:t>: The following require live GCP credentials and are honestly documented: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  - Live Terraform Apply</a:t>
            </a:r>
            <a:r>
              <a:rPr>
                <a:solidFill>
                  <a:srgbClr val="94A3B8"/>
                </a:solidFill>
              </a:rPr>
              <a:t>: Requires active GCP billing account and project credentials.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  - Live BigQuery RLS Test</a:t>
            </a:r>
            <a:r>
              <a:rPr>
                <a:solidFill>
                  <a:srgbClr val="94A3B8"/>
                </a:solidFill>
              </a:rPr>
              <a:t>: Requires querying live BigQuery tables with regional user identities.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  - Live WIF Authentication</a:t>
            </a:r>
            <a:r>
              <a:rPr>
                <a:solidFill>
                  <a:srgbClr val="94A3B8"/>
                </a:solidFill>
              </a:rPr>
              <a:t>: Requires GCP Workload Identity Pool secrets in GitHub Actions.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  - GitHub Branch Protection</a:t>
            </a:r>
            <a:r>
              <a:rPr>
                <a:solidFill>
                  <a:srgbClr val="94A3B8"/>
                </a:solidFill>
              </a:rPr>
              <a:t>: Requires toggling required checks in GitHub Web UI repository settings.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Final Assessment Status</a:t>
            </a:r>
            <a:r>
              <a:rPr>
                <a:solidFill>
                  <a:srgbClr val="94A3B8"/>
                </a:solidFill>
              </a:rPr>
              <a:t>: Submission-ready subject to final human review.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Engineering Integrity</a:t>
            </a:r>
            <a:r>
              <a:rPr>
                <a:solidFill>
                  <a:srgbClr val="94A3B8"/>
                </a:solidFill>
              </a:rPr>
              <a:t>: Zero fabricated evidence; all claims grounded in verifiable artifacts.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solidFill>
            <a:srgbClr val="1821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PRESENTER POINT: </a:t>
            </a:r>
            <a:r>
              <a:rPr sz="1000" i="1">
                <a:solidFill>
                  <a:srgbClr val="F8FAFC"/>
                </a:solidFill>
                <a:latin typeface="Segoe UI"/>
              </a:rPr>
              <a:t>The Habot Connect Student Onboarding platform is complete, deterministic, and rigorously verified. Every claim is backed by real execution logs, embodying true Staff-level engineering integrity.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